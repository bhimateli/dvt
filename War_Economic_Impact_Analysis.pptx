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40"/>
                </a:solidFill>
                <a:latin typeface="Arial"/>
              </a:rPr>
              <a:t>Avg GDP Change (%) by Conflict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GDP Change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Civil War</c:v>
                </c:pt>
                <c:pt idx="1">
                  <c:v>Interstate War</c:v>
                </c:pt>
                <c:pt idx="2">
                  <c:v>World War</c:v>
                </c:pt>
                <c:pt idx="3">
                  <c:v>Asymmetric</c:v>
                </c:pt>
                <c:pt idx="4">
                  <c:v>Counter-ins.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-32.5</c:v>
                </c:pt>
                <c:pt idx="1">
                  <c:v>-28.1</c:v>
                </c:pt>
                <c:pt idx="2">
                  <c:v>-39.6</c:v>
                </c:pt>
                <c:pt idx="3">
                  <c:v>-25.3</c:v>
                </c:pt>
                <c:pt idx="4">
                  <c:v>-30.5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B0-47D1-B3F7-817C915622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"/>
          <c:min val="-50"/>
        </c:scaling>
        <c:delete val="0"/>
        <c:axPos val="b"/>
        <c:majorGridlines>
          <c:spPr>
            <a:ln w="6350" cap="flat">
              <a:solidFill>
                <a:srgbClr val="E0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40"/>
                </a:solidFill>
                <a:latin typeface="Arial"/>
              </a:rPr>
              <a:t>Inflation &amp; Unemployment Spike by Region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Inflation Rate (%)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Middle East</c:v>
                </c:pt>
                <c:pt idx="1">
                  <c:v>Europe</c:v>
                </c:pt>
                <c:pt idx="2">
                  <c:v>Africa</c:v>
                </c:pt>
                <c:pt idx="3">
                  <c:v>South Asia</c:v>
                </c:pt>
                <c:pt idx="4">
                  <c:v>East Asia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75.2</c:v>
                </c:pt>
                <c:pt idx="1">
                  <c:v>58.3</c:v>
                </c:pt>
                <c:pt idx="2">
                  <c:v>72.099999999999994</c:v>
                </c:pt>
                <c:pt idx="3">
                  <c:v>65.8</c:v>
                </c:pt>
                <c:pt idx="4">
                  <c:v>68.400000000000006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0-4C11-B690-EB51140686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Unemployment Spike (pp)</c:v>
                </c:pt>
              </c:strCache>
            </c:strRef>
          </c:tx>
          <c:spPr>
            <a:solidFill>
              <a:srgbClr val="0D1B4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Middle East</c:v>
                </c:pt>
                <c:pt idx="1">
                  <c:v>Europe</c:v>
                </c:pt>
                <c:pt idx="2">
                  <c:v>Africa</c:v>
                </c:pt>
                <c:pt idx="3">
                  <c:v>South Asia</c:v>
                </c:pt>
                <c:pt idx="4">
                  <c:v>East Asia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15.2</c:v>
                </c:pt>
                <c:pt idx="1">
                  <c:v>11.4</c:v>
                </c:pt>
                <c:pt idx="2">
                  <c:v>14.1</c:v>
                </c:pt>
                <c:pt idx="3">
                  <c:v>10.8</c:v>
                </c:pt>
                <c:pt idx="4">
                  <c:v>13.6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C0-4C11-B690-EB51140686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4557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Black Market Activity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Black Market Activity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73-4C85-A72D-7F8D1D7F7BA8}"/>
              </c:ext>
            </c:extLst>
          </c:dPt>
          <c:dPt>
            <c:idx val="1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73-4C85-A72D-7F8D1D7F7BA8}"/>
              </c:ext>
            </c:extLst>
          </c:dPt>
          <c:dPt>
            <c:idx val="2"/>
            <c:bubble3D val="0"/>
            <c:spPr>
              <a:solidFill>
                <a:srgbClr val="1A6B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73-4C85-A72D-7F8D1D7F7BA8}"/>
              </c:ext>
            </c:extLst>
          </c:dPt>
          <c:dPt>
            <c:idx val="3"/>
            <c:bubble3D val="0"/>
            <c:spPr>
              <a:solidFill>
                <a:srgbClr val="8A94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E73-4C85-A72D-7F8D1D7F7BA8}"/>
              </c:ext>
            </c:extLst>
          </c:dPt>
          <c:cat>
            <c:strRef>
              <c:f>Sheet1!$A$2:$A$5</c:f>
              <c:strCache>
                <c:ptCount val="4"/>
                <c:pt idx="0">
                  <c:v>High (25.4%)</c:v>
                </c:pt>
                <c:pt idx="1">
                  <c:v>Low (25.0%)</c:v>
                </c:pt>
                <c:pt idx="2">
                  <c:v>Dominant (24.9%)</c:v>
                </c:pt>
                <c:pt idx="3">
                  <c:v>Moderate (24.7%)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25377</c:v>
                </c:pt>
                <c:pt idx="1">
                  <c:v>24990</c:v>
                </c:pt>
                <c:pt idx="2">
                  <c:v>24915</c:v>
                </c:pt>
                <c:pt idx="3">
                  <c:v>24718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73-4C85-A72D-7F8D1D7F7B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0D1B4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E8ECF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98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109728"/>
            <a:ext cx="411480" cy="4919472"/>
          </a:xfrm>
          <a:prstGeom prst="rect">
            <a:avLst/>
          </a:prstGeom>
          <a:solidFill>
            <a:srgbClr val="2C3E6A"/>
          </a:solidFill>
          <a:ln w="12700">
            <a:solidFill>
              <a:srgbClr val="2C3E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09728"/>
            <a:ext cx="73152" cy="4919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 &amp; ECONOMIC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ANALYSIS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78638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Study of Conflict-Driven Economic Disruption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237744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CONFLICT RECORDS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3429000"/>
            <a:ext cx="1737360" cy="365760"/>
          </a:xfrm>
          <a:prstGeom prst="rect">
            <a:avLst/>
          </a:prstGeom>
          <a:solidFill>
            <a:srgbClr val="2C3E6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4612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INDICATORS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3429000"/>
            <a:ext cx="1828800" cy="365760"/>
          </a:xfrm>
          <a:prstGeom prst="rect">
            <a:avLst/>
          </a:prstGeom>
          <a:solidFill>
            <a:srgbClr val="2C3E6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2064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GLOBAL REGIONS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Economics &amp; Data Science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CONTRIBUTORS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566928" cy="566928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5727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Amrithya Muralikrishnan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938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Visualization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566160" y="1627632"/>
            <a:ext cx="566928" cy="566928"/>
          </a:xfrm>
          <a:prstGeom prst="ellipse">
            <a:avLst/>
          </a:prstGeom>
          <a:solidFill>
            <a:srgbClr val="2C3E6A"/>
          </a:solidFill>
          <a:ln w="12700">
            <a:solidFill>
              <a:srgbClr val="2C3E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6616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15727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Bhargav S 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51960" y="1938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Modeling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13716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55080" y="1371600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537960" y="1627632"/>
            <a:ext cx="566928" cy="566928"/>
          </a:xfrm>
          <a:prstGeom prst="ellipse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3796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15727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Bhimashankar Teli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1938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Research &amp; Methodology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807208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11480" y="2807208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4360" y="3063240"/>
            <a:ext cx="566928" cy="566928"/>
          </a:xfrm>
          <a:prstGeom prst="ellipse">
            <a:avLst/>
          </a:prstGeom>
          <a:solidFill>
            <a:srgbClr val="A07830"/>
          </a:solidFill>
          <a:ln w="12700">
            <a:solidFill>
              <a:srgbClr val="A078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30083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Hetvi Patel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33741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2807208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383280" y="2807208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566160" y="3063240"/>
            <a:ext cx="566928" cy="566928"/>
          </a:xfrm>
          <a:prstGeom prst="ellipse">
            <a:avLst/>
          </a:prstGeom>
          <a:solidFill>
            <a:srgbClr val="1A4D6B"/>
          </a:solidFill>
          <a:ln w="12700">
            <a:solidFill>
              <a:srgbClr val="1A4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56616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51960" y="30083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Ramkumar 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51960" y="33741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Engineering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2807208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355080" y="2807208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537960" y="3063240"/>
            <a:ext cx="566928" cy="566928"/>
          </a:xfrm>
          <a:prstGeom prst="ellipse">
            <a:avLst/>
          </a:prstGeom>
          <a:solidFill>
            <a:srgbClr val="3A1C5A"/>
          </a:solidFill>
          <a:ln w="12700">
            <a:solidFill>
              <a:srgbClr val="3A1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3796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23760" y="30083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Sridhar Alagandala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23760" y="33741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Documentation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&amp; Economic Impact Analysis  |  2025</a:t>
            </a:r>
            <a:endParaRPr lang="en-US" sz="1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EDAA3FC-3193-6918-4211-D75CFC6DB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276" y="3035808"/>
            <a:ext cx="648872" cy="594360"/>
          </a:xfrm>
          <a:prstGeom prst="rect">
            <a:avLst/>
          </a:prstGeom>
          <a:noFill/>
          <a:effectLst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9FA8D0C-087B-C487-693E-CAB964717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10" y="1556150"/>
            <a:ext cx="665842" cy="6658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DECB81B-C1F7-29FA-3AE1-9F7EC7A1D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57" y="3035808"/>
            <a:ext cx="666544" cy="666544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33D9882-16D1-1DC9-27CD-57C1DB887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745" y="1556715"/>
            <a:ext cx="687358" cy="687358"/>
          </a:xfrm>
          <a:prstGeom prst="rect">
            <a:avLst/>
          </a:prstGeom>
          <a:noFill/>
          <a:effectLst>
            <a:softEdge rad="1143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17883FB-FAF5-FC3F-BA57-03DD5E519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969" y="1581508"/>
            <a:ext cx="801996" cy="801996"/>
          </a:xfrm>
          <a:prstGeom prst="rect">
            <a:avLst/>
          </a:prstGeom>
          <a:noFill/>
          <a:effectLst>
            <a:softEdge rad="76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932688"/>
          </a:xfrm>
          <a:prstGeom prst="rect">
            <a:avLst/>
          </a:prstGeom>
          <a:solidFill>
            <a:srgbClr val="F7F9FF"/>
          </a:solidFill>
          <a:ln w="12700">
            <a:solidFill>
              <a:srgbClr val="D0D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64008" cy="9326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captures the comprehensive economic and humanitarian consequences of armed conflicts worldwide, spanning from World War II (1939) to ongoing conflicts in 2026. With 100,000 records across 5 global regions, it provides multi-dimensional insight into how wars reshape economies, displace populations, and destabilize financial systems — enabling evidence-based policy and reconstruction planning.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196596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2404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540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data points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87168" y="2359152"/>
            <a:ext cx="1965960" cy="914400"/>
          </a:xfrm>
          <a:prstGeom prst="rect">
            <a:avLst/>
          </a:prstGeom>
          <a:solidFill>
            <a:srgbClr val="2C3E6A"/>
          </a:solidFill>
          <a:ln w="12700">
            <a:solidFill>
              <a:srgbClr val="2C3E6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87168" y="2404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87168" y="283464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Indicators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87168" y="30540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conflict types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2359152"/>
            <a:ext cx="1965960" cy="91440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08576" y="2404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1939–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08576" y="283464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08576" y="30540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WWII to Present (2026)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9984" y="2359152"/>
            <a:ext cx="1965960" cy="914400"/>
          </a:xfrm>
          <a:prstGeom prst="rect">
            <a:avLst/>
          </a:prstGeom>
          <a:solidFill>
            <a:srgbClr val="A07830"/>
          </a:solidFill>
          <a:ln w="12700">
            <a:solidFill>
              <a:srgbClr val="A0783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29984" y="2404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29984" y="283464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9984" y="30540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ME, EU, Africa, SA, EA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456432"/>
            <a:ext cx="26517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8D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65760" y="3456432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" y="351129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Metadata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" y="371246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name, type, region, start/end year, status, primary country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82112" y="3456432"/>
            <a:ext cx="26517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8D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182112" y="3456432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91840" y="351129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&amp; Employment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371246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Pre/during war unemployment %, unemployment spike, youth unemployment change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98464" y="3456432"/>
            <a:ext cx="26517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8D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998464" y="3456432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08192" y="351129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&amp; Food Security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08192" y="371246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Pre/during poverty rates, extreme poverty rate, food insecurity rate, households impoverished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206240"/>
            <a:ext cx="292608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8D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65760" y="4206240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" y="426110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Macro-Economic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" y="446227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change %, inflation rate %, currency devaluation %, cost of war, reconstruction cost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566160" y="4206240"/>
            <a:ext cx="521208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8D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566160" y="4206240"/>
            <a:ext cx="54864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675888" y="4261104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Economy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75888" y="4462272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economy size (pre/during war), black market activity level &amp; goods, currency gap %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&amp; Economic Impact Analysis  |  2025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ECONOMIC IMPACT INDICATORS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887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11887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931920"/>
            <a:ext cx="160020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274320" y="3977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-31.6%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274320" y="43434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 Drop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011680" y="3931920"/>
            <a:ext cx="1600200" cy="7315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2011680" y="3977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70.0%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2011680" y="43434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Inflation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749040" y="3931920"/>
            <a:ext cx="1600200" cy="7315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3749040" y="3977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+13.6pp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749040" y="43434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Unemp. Spike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0" y="3931920"/>
            <a:ext cx="1600200" cy="731520"/>
          </a:xfrm>
          <a:prstGeom prst="rect">
            <a:avLst/>
          </a:prstGeom>
          <a:solidFill>
            <a:srgbClr val="A07830"/>
          </a:solidFill>
          <a:ln w="12700">
            <a:solidFill>
              <a:srgbClr val="A0783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5486400" y="3977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$250B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486400" y="43434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War Cost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223760" y="3931920"/>
            <a:ext cx="1600200" cy="731520"/>
          </a:xfrm>
          <a:prstGeom prst="rect">
            <a:avLst/>
          </a:prstGeom>
          <a:solidFill>
            <a:srgbClr val="2C3E6A"/>
          </a:solidFill>
          <a:ln w="12700">
            <a:solidFill>
              <a:srgbClr val="2C3E6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7223760" y="3977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$690B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7223760" y="43434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Reconstruction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&amp; Economic Impact Analysis  |  2025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9144000" cy="914400"/>
          </a:xfrm>
          <a:prstGeom prst="rect">
            <a:avLst/>
          </a:prstGeom>
          <a:solidFill>
            <a:srgbClr val="2C3E6A"/>
          </a:solidFill>
          <a:ln w="12700">
            <a:solidFill>
              <a:srgbClr val="2C3E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IMPACT &amp; KEY FINDINGS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234440"/>
          <a:ext cx="32004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749040" y="1261872"/>
            <a:ext cx="5074920" cy="521208"/>
          </a:xfrm>
          <a:prstGeom prst="rect">
            <a:avLst/>
          </a:prstGeom>
          <a:solidFill>
            <a:srgbClr val="142050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749040" y="1261872"/>
            <a:ext cx="54864" cy="521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858768" y="133502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24528" y="131673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surges from 17.5% pre-war to 29.1% during conflict — a +66% increase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749040" y="1856232"/>
            <a:ext cx="5074920" cy="521208"/>
          </a:xfrm>
          <a:prstGeom prst="rect">
            <a:avLst/>
          </a:prstGeom>
          <a:solidFill>
            <a:srgbClr val="142050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749040" y="1856232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858768" y="192938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224528" y="19110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all conflicts have documented War Profiteering activity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749040" y="2450592"/>
            <a:ext cx="5074920" cy="521208"/>
          </a:xfrm>
          <a:prstGeom prst="rect">
            <a:avLst/>
          </a:prstGeom>
          <a:solidFill>
            <a:srgbClr val="142050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749040" y="2450592"/>
            <a:ext cx="54864" cy="5212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858768" y="25237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224528" y="25054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insecurity averages 20.4% during war — rising sharply in Middle East &amp; Africa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749040" y="3044952"/>
            <a:ext cx="5074920" cy="521208"/>
          </a:xfrm>
          <a:prstGeom prst="rect">
            <a:avLst/>
          </a:prstGeom>
          <a:solidFill>
            <a:srgbClr val="142050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749040" y="3044952"/>
            <a:ext cx="54864" cy="521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858768" y="311810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224528" y="30998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Wars account for 36% of all conflict records — the most prevalent type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749040" y="3639312"/>
            <a:ext cx="5074920" cy="521208"/>
          </a:xfrm>
          <a:prstGeom prst="rect">
            <a:avLst/>
          </a:prstGeom>
          <a:solidFill>
            <a:srgbClr val="142050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3749040" y="3639312"/>
            <a:ext cx="54864" cy="521208"/>
          </a:xfrm>
          <a:prstGeom prst="rect">
            <a:avLst/>
          </a:prstGeom>
          <a:solidFill>
            <a:srgbClr val="8A94B0"/>
          </a:solidFill>
          <a:ln w="12700">
            <a:solidFill>
              <a:srgbClr val="8A94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3858768" y="371246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224528" y="369417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costs (avg $690B) are 2.75× the direct cost of war ($251B)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749040" y="4233672"/>
            <a:ext cx="5074920" cy="521208"/>
          </a:xfrm>
          <a:prstGeom prst="rect">
            <a:avLst/>
          </a:prstGeom>
          <a:solidFill>
            <a:srgbClr val="142050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3749040" y="4233672"/>
            <a:ext cx="54864" cy="5212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858768" y="430682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224528" y="428853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economies nearly double in size: from 25% to 52% of GDP during war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0F28"/>
          </a:solidFill>
          <a:ln w="12700">
            <a:solidFill>
              <a:srgbClr val="080F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57200" y="4901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&amp; Economic Impact Analysis  |  Dataset: 100,000 Conflict Records  |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440</Words>
  <Application>Microsoft Office PowerPoint</Application>
  <PresentationFormat>On-screen Show (16:9)</PresentationFormat>
  <Paragraphs>86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 &amp; Economic Impact Analysis</dc:title>
  <dc:subject>PptxGenJS Presentation</dc:subject>
  <dc:creator>PptxGenJS</dc:creator>
  <cp:lastModifiedBy>Bhimashankar Teli</cp:lastModifiedBy>
  <cp:revision>2</cp:revision>
  <dcterms:created xsi:type="dcterms:W3CDTF">2026-04-03T09:08:02Z</dcterms:created>
  <dcterms:modified xsi:type="dcterms:W3CDTF">2026-04-03T09:27:56Z</dcterms:modified>
</cp:coreProperties>
</file>