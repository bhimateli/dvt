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40F1E"/>
          </a:solidFill>
          <a:ln w="12700">
            <a:solidFill>
              <a:srgbClr val="04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5029200" cy="2560320"/>
          </a:xfrm>
          <a:prstGeom prst="rect">
            <a:avLst/>
          </a:prstGeom>
          <a:solidFill>
            <a:srgbClr val="051830"/>
          </a:solidFill>
          <a:ln w="12700">
            <a:solidFill>
              <a:srgbClr val="051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1D35"/>
          </a:solidFill>
          <a:ln w="12700">
            <a:solidFill>
              <a:srgbClr val="051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65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365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365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365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1430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1430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1430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11430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6974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6974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6974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26974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474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3474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3474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3474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" y="182880"/>
            <a:ext cx="1097280" cy="1097280"/>
          </a:xfrm>
          <a:prstGeom prst="ellipse">
            <a:avLst/>
          </a:prstGeom>
          <a:solidFill>
            <a:srgbClr val="072A4A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84048"/>
            <a:ext cx="685800" cy="6858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463040" y="475488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0620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63040" y="4754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</a:rPr>
              <a:t>DATASET OVERVIEW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463040" y="54864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63040" y="54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0A14"/>
                </a:solidFill>
              </a:rPr>
              <a:t>DVT PROJECT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4048" y="1097280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6000" dirty="0"/>
          </a:p>
        </p:txBody>
      </p:sp>
      <p:sp>
        <p:nvSpPr>
          <p:cNvPr id="34" name="Text 31"/>
          <p:cNvSpPr/>
          <p:nvPr/>
        </p:nvSpPr>
        <p:spPr>
          <a:xfrm>
            <a:off x="384048" y="1993392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6000" dirty="0"/>
          </a:p>
        </p:txBody>
      </p:sp>
      <p:sp>
        <p:nvSpPr>
          <p:cNvPr id="35" name="Shape 32"/>
          <p:cNvSpPr/>
          <p:nvPr/>
        </p:nvSpPr>
        <p:spPr>
          <a:xfrm>
            <a:off x="384048" y="2999232"/>
            <a:ext cx="3200400" cy="274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4048" y="31272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B93B5"/>
                </a:solidFill>
              </a:rPr>
              <a:t>A comprehensive look at order records, customer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B93B5"/>
                </a:solidFill>
              </a:rPr>
              <a:t>profiles, products and financial metrics.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84048" y="4160520"/>
            <a:ext cx="2560320" cy="658368"/>
          </a:xfrm>
          <a:prstGeom prst="rect">
            <a:avLst/>
          </a:prstGeom>
          <a:solidFill>
            <a:srgbClr val="071D3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84048" y="416052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279392"/>
            <a:ext cx="274320" cy="27432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59536" y="4187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~5,000 Records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3200400" y="4160520"/>
            <a:ext cx="2560320" cy="658368"/>
          </a:xfrm>
          <a:prstGeom prst="rect">
            <a:avLst/>
          </a:prstGeom>
          <a:solidFill>
            <a:srgbClr val="071D3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3200400" y="416052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279392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675888" y="4187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24 Columns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6016752" y="4160520"/>
            <a:ext cx="2560320" cy="658368"/>
          </a:xfrm>
          <a:prstGeom prst="rect">
            <a:avLst/>
          </a:prstGeom>
          <a:solidFill>
            <a:srgbClr val="071D3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016752" y="416052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4279392"/>
            <a:ext cx="274320" cy="27432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492240" y="41879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2013 – 2017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7498080" y="4535424"/>
            <a:ext cx="1463040" cy="365760"/>
          </a:xfrm>
          <a:prstGeom prst="rect">
            <a:avLst/>
          </a:prstGeom>
          <a:solidFill>
            <a:srgbClr val="071D3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7498080" y="4535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GROUP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1D35"/>
          </a:solidFill>
          <a:ln w="12700">
            <a:solidFill>
              <a:srgbClr val="051D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40F1E"/>
          </a:solidFill>
          <a:ln w="12700">
            <a:solidFill>
              <a:srgbClr val="040F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4572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4572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4572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4572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188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188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188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18872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92024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651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651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651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65176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3832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33832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3832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38328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1148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41148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1148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4114800"/>
            <a:ext cx="54864" cy="54864"/>
          </a:xfrm>
          <a:prstGeom prst="ellipse">
            <a:avLst/>
          </a:prstGeom>
          <a:solidFill>
            <a:srgbClr val="0E3A5F"/>
          </a:solidFill>
          <a:ln w="12700">
            <a:solidFill>
              <a:srgbClr val="0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82880"/>
            <a:ext cx="914400" cy="914400"/>
          </a:xfrm>
          <a:prstGeom prst="ellipse">
            <a:avLst/>
          </a:prstGeom>
          <a:solidFill>
            <a:srgbClr val="062033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548640" cy="5486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1371600" y="54864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71600" y="54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0A14"/>
                </a:solidFill>
              </a:rPr>
              <a:t>DVT PROJECT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371600" y="475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1371600" y="868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4200" dirty="0"/>
          </a:p>
        </p:txBody>
      </p:sp>
      <p:sp>
        <p:nvSpPr>
          <p:cNvPr id="36" name="Shape 33"/>
          <p:cNvSpPr/>
          <p:nvPr/>
        </p:nvSpPr>
        <p:spPr>
          <a:xfrm>
            <a:off x="1371600" y="1572768"/>
            <a:ext cx="1417320" cy="365760"/>
          </a:xfrm>
          <a:prstGeom prst="rect">
            <a:avLst/>
          </a:prstGeom>
          <a:solidFill>
            <a:srgbClr val="071D3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371600" y="1572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GROUP 2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84048" y="2011680"/>
            <a:ext cx="5029200" cy="274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84048" y="2148840"/>
            <a:ext cx="5029200" cy="402336"/>
          </a:xfrm>
          <a:prstGeom prst="rect">
            <a:avLst/>
          </a:prstGeom>
          <a:solidFill>
            <a:srgbClr val="071D34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5488" y="222199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A14"/>
                </a:solidFill>
              </a:rPr>
              <a:t>1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41248" y="214884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Amrithya Muralikrishnan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84048" y="2596896"/>
            <a:ext cx="5029200" cy="402336"/>
          </a:xfrm>
          <a:prstGeom prst="rect">
            <a:avLst/>
          </a:prstGeom>
          <a:solidFill>
            <a:srgbClr val="040F1E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5488" y="267004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A14"/>
                </a:solidFill>
              </a:rPr>
              <a:t>2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41248" y="259689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Bhargav S V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4048" y="3044952"/>
            <a:ext cx="5029200" cy="402336"/>
          </a:xfrm>
          <a:prstGeom prst="rect">
            <a:avLst/>
          </a:prstGeom>
          <a:solidFill>
            <a:srgbClr val="071D34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75488" y="311810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5488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A14"/>
                </a:solidFill>
              </a:rPr>
              <a:t>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41248" y="304495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Bhimashankar Teli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84048" y="3493008"/>
            <a:ext cx="5029200" cy="402336"/>
          </a:xfrm>
          <a:prstGeom prst="rect">
            <a:avLst/>
          </a:prstGeom>
          <a:solidFill>
            <a:srgbClr val="040F1E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5488" y="356616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A14"/>
                </a:solidFill>
              </a:rPr>
              <a:t>4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41248" y="34930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Hetvi Patel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384048" y="3941064"/>
            <a:ext cx="5029200" cy="402336"/>
          </a:xfrm>
          <a:prstGeom prst="rect">
            <a:avLst/>
          </a:prstGeom>
          <a:solidFill>
            <a:srgbClr val="071D34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75488" y="401421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7548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A14"/>
                </a:solidFill>
              </a:rPr>
              <a:t>5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841248" y="394106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Ramkumar 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384048" y="4389120"/>
            <a:ext cx="5029200" cy="402336"/>
          </a:xfrm>
          <a:prstGeom prst="rect">
            <a:avLst/>
          </a:prstGeom>
          <a:solidFill>
            <a:srgbClr val="040F1E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5488" y="446227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75488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0A14"/>
                </a:solidFill>
              </a:rPr>
              <a:t>6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841248" y="43891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Sridhar Alagandala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5852160" y="457200"/>
            <a:ext cx="2926080" cy="3657600"/>
          </a:xfrm>
          <a:prstGeom prst="rect">
            <a:avLst/>
          </a:prstGeom>
          <a:solidFill>
            <a:srgbClr val="071D3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5852160" y="457200"/>
            <a:ext cx="29260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685800"/>
            <a:ext cx="594360" cy="594360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6995160" y="713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Course Info</a:t>
            </a:r>
            <a:endParaRPr lang="en-US" sz="1400" dirty="0"/>
          </a:p>
        </p:txBody>
      </p:sp>
      <p:sp>
        <p:nvSpPr>
          <p:cNvPr id="67" name="Shape 63"/>
          <p:cNvSpPr/>
          <p:nvPr/>
        </p:nvSpPr>
        <p:spPr>
          <a:xfrm>
            <a:off x="5989320" y="1426464"/>
            <a:ext cx="2651760" cy="347472"/>
          </a:xfrm>
          <a:prstGeom prst="rect">
            <a:avLst/>
          </a:prstGeom>
          <a:solidFill>
            <a:srgbClr val="0A243D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6080760" y="14264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5"/>
                </a:solidFill>
              </a:rPr>
              <a:t>Project</a:t>
            </a:r>
            <a:endParaRPr lang="en-US" sz="1000" dirty="0"/>
          </a:p>
        </p:txBody>
      </p:sp>
      <p:sp>
        <p:nvSpPr>
          <p:cNvPr id="69" name="Text 65"/>
          <p:cNvSpPr/>
          <p:nvPr/>
        </p:nvSpPr>
        <p:spPr>
          <a:xfrm>
            <a:off x="7132320" y="1426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DVT Project</a:t>
            </a:r>
            <a:endParaRPr lang="en-US" sz="1100" dirty="0"/>
          </a:p>
        </p:txBody>
      </p:sp>
      <p:sp>
        <p:nvSpPr>
          <p:cNvPr id="70" name="Shape 66"/>
          <p:cNvSpPr/>
          <p:nvPr/>
        </p:nvSpPr>
        <p:spPr>
          <a:xfrm>
            <a:off x="5989320" y="1847088"/>
            <a:ext cx="2651760" cy="347472"/>
          </a:xfrm>
          <a:prstGeom prst="rect">
            <a:avLst/>
          </a:prstGeom>
          <a:solidFill>
            <a:srgbClr val="071D34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080760" y="1847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5"/>
                </a:solidFill>
              </a:rPr>
              <a:t>Group</a:t>
            </a:r>
            <a:endParaRPr lang="en-US" sz="1000" dirty="0"/>
          </a:p>
        </p:txBody>
      </p:sp>
      <p:sp>
        <p:nvSpPr>
          <p:cNvPr id="72" name="Text 68"/>
          <p:cNvSpPr/>
          <p:nvPr/>
        </p:nvSpPr>
        <p:spPr>
          <a:xfrm>
            <a:off x="713232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2</a:t>
            </a:r>
            <a:endParaRPr lang="en-US" sz="1100" dirty="0"/>
          </a:p>
        </p:txBody>
      </p:sp>
      <p:sp>
        <p:nvSpPr>
          <p:cNvPr id="73" name="Shape 69"/>
          <p:cNvSpPr/>
          <p:nvPr/>
        </p:nvSpPr>
        <p:spPr>
          <a:xfrm>
            <a:off x="5989320" y="2267712"/>
            <a:ext cx="2651760" cy="347472"/>
          </a:xfrm>
          <a:prstGeom prst="rect">
            <a:avLst/>
          </a:prstGeom>
          <a:solidFill>
            <a:srgbClr val="0A243D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6080760" y="22677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5"/>
                </a:solidFill>
              </a:rPr>
              <a:t>Members</a:t>
            </a:r>
            <a:endParaRPr lang="en-US" sz="1000" dirty="0"/>
          </a:p>
        </p:txBody>
      </p:sp>
      <p:sp>
        <p:nvSpPr>
          <p:cNvPr id="75" name="Text 71"/>
          <p:cNvSpPr/>
          <p:nvPr/>
        </p:nvSpPr>
        <p:spPr>
          <a:xfrm>
            <a:off x="7132320" y="2267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Contributors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5989320" y="2688336"/>
            <a:ext cx="2651760" cy="347472"/>
          </a:xfrm>
          <a:prstGeom prst="rect">
            <a:avLst/>
          </a:prstGeom>
          <a:solidFill>
            <a:srgbClr val="071D34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080760" y="26883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5"/>
                </a:solidFill>
              </a:rPr>
              <a:t>Dataset</a:t>
            </a:r>
            <a:endParaRPr lang="en-US" sz="1000" dirty="0"/>
          </a:p>
        </p:txBody>
      </p:sp>
      <p:sp>
        <p:nvSpPr>
          <p:cNvPr id="78" name="Text 74"/>
          <p:cNvSpPr/>
          <p:nvPr/>
        </p:nvSpPr>
        <p:spPr>
          <a:xfrm>
            <a:off x="7132320" y="2688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Orders</a:t>
            </a:r>
            <a:endParaRPr lang="en-US" sz="1100" dirty="0"/>
          </a:p>
        </p:txBody>
      </p:sp>
      <p:sp>
        <p:nvSpPr>
          <p:cNvPr id="79" name="Shape 75"/>
          <p:cNvSpPr/>
          <p:nvPr/>
        </p:nvSpPr>
        <p:spPr>
          <a:xfrm>
            <a:off x="5989320" y="3108960"/>
            <a:ext cx="2651760" cy="347472"/>
          </a:xfrm>
          <a:prstGeom prst="rect">
            <a:avLst/>
          </a:prstGeom>
          <a:solidFill>
            <a:srgbClr val="0A243D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6080760" y="3108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5"/>
                </a:solidFill>
              </a:rPr>
              <a:t>Period</a:t>
            </a:r>
            <a:endParaRPr lang="en-US" sz="1000" dirty="0"/>
          </a:p>
        </p:txBody>
      </p:sp>
      <p:sp>
        <p:nvSpPr>
          <p:cNvPr id="81" name="Text 77"/>
          <p:cNvSpPr/>
          <p:nvPr/>
        </p:nvSpPr>
        <p:spPr>
          <a:xfrm>
            <a:off x="7132320" y="3108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2013 – 2017</a:t>
            </a:r>
            <a:endParaRPr lang="en-US" sz="1100" dirty="0"/>
          </a:p>
        </p:txBody>
      </p:sp>
      <p:sp>
        <p:nvSpPr>
          <p:cNvPr id="82" name="Shape 78"/>
          <p:cNvSpPr/>
          <p:nvPr/>
        </p:nvSpPr>
        <p:spPr>
          <a:xfrm>
            <a:off x="5989320" y="3529584"/>
            <a:ext cx="2651760" cy="347472"/>
          </a:xfrm>
          <a:prstGeom prst="rect">
            <a:avLst/>
          </a:prstGeom>
          <a:solidFill>
            <a:srgbClr val="071D34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6080760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B5"/>
                </a:solidFill>
              </a:rPr>
              <a:t>Records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7132320" y="3529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~5,000 rows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at a Glance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1143000"/>
            <a:ext cx="1874520" cy="13716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~5,000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1148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Total Records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14600" y="1143000"/>
            <a:ext cx="1874520" cy="1371600"/>
          </a:xfrm>
          <a:prstGeom prst="rect">
            <a:avLst/>
          </a:prstGeom>
          <a:solidFill>
            <a:srgbClr val="1156A6"/>
          </a:solidFill>
          <a:ln w="12700">
            <a:solidFill>
              <a:srgbClr val="1156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1460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24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51460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Columns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1143000"/>
            <a:ext cx="18745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 Yrs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61772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2013 – 2017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1143000"/>
            <a:ext cx="1874520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2084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72084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Cities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2743200"/>
            <a:ext cx="8412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2816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</a:rPr>
              <a:t>Key Characteristics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218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52"/>
                </a:solidFill>
              </a:rPr>
              <a:t>Australian retail orders from Sydney (NSW) and Melbourne (VIC)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52"/>
                </a:solidFill>
              </a:rPr>
              <a:t>Covers 4 customer types: Consumer, Corporate, Small Business, Home Office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52"/>
                </a:solidFill>
              </a:rPr>
              <a:t>3 product categories: Office Supplies, Technology, Furniture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52"/>
                </a:solidFill>
              </a:rPr>
              <a:t>2 shipping modes: Regular Air &amp; Express Air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F52"/>
                </a:solidFill>
              </a:rPr>
              <a:t>Full financial chain: Cost Price → Retail Price → Discount → Order Total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Column Groups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3B5"/>
                </a:solidFill>
              </a:rPr>
              <a:t>24 columns organised into 5 thematic groups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691640"/>
          </a:xfrm>
          <a:prstGeom prst="rect">
            <a:avLst/>
          </a:prstGeom>
          <a:solidFill>
            <a:srgbClr val="1156A6"/>
          </a:solidFill>
          <a:ln w="12700">
            <a:solidFill>
              <a:srgbClr val="1156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 Identity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1645920"/>
            <a:ext cx="59436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6459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F"/>
                </a:solidFill>
              </a:rPr>
              <a:t>3 cols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EA"/>
                </a:solidFill>
              </a:rPr>
              <a:t>Order No · Order Date · Order Priority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560320" cy="1691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8872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84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67912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Info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67912" y="1645920"/>
            <a:ext cx="59436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67912" y="16459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F"/>
                </a:solidFill>
              </a:rPr>
              <a:t>6 cols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3756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EA"/>
                </a:solidFill>
              </a:rPr>
              <a:t>Customer Name · Address · City · State · Customer Type · Account Manager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1188720"/>
            <a:ext cx="256032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18872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9844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56832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 Info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656832" y="1645920"/>
            <a:ext cx="59436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56832" y="16459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F"/>
                </a:solidFill>
              </a:rPr>
              <a:t>3 cols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26480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EA"/>
                </a:solidFill>
              </a:rPr>
              <a:t>Product Name · Product Category · Product Container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063240"/>
            <a:ext cx="2560320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06324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Logistics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1078992" y="3520440"/>
            <a:ext cx="59436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78992" y="3520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F"/>
                </a:solidFill>
              </a:rPr>
              <a:t>2 cols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864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EA"/>
                </a:solidFill>
              </a:rPr>
              <a:t>Ship Mode · Ship Date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246120" y="3063240"/>
            <a:ext cx="2560320" cy="1691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46120" y="306324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72968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867912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Financials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3867912" y="3520440"/>
            <a:ext cx="59436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867912" y="3520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F"/>
                </a:solidFill>
              </a:rPr>
              <a:t>9 cols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333756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EA"/>
                </a:solidFill>
              </a:rPr>
              <a:t>Cost · Retail · Margin · Qty · Sub Total · Discount % · Discount $ · Order Total · Shipping · Total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Order Identity &amp; Customer Columns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solidFill>
            <a:srgbClr val="1156A6"/>
          </a:solidFill>
          <a:ln w="12700">
            <a:solidFill>
              <a:srgbClr val="1156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Column Name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65960" y="1005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375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Sample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1208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" y="1444752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Order No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65960" y="1325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Text / ID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4293-1, 5001-1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0" y="13258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order identifier. Format: [number]-[sub].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728216"/>
            <a:ext cx="85953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" y="1847088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1728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Order Date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65960" y="1728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37560" y="17282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02-09-2014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12080" y="17282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Date the order was placed (DD-MM-YYYY).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1305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" y="2249424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2130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Order Priority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965960" y="2130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37560" y="2130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Critical, High, Medium…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212080" y="21305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Urgency level of the order (5 levels incl. Not Specified).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2532888"/>
            <a:ext cx="85953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2651760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25328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Customer Name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965960" y="25328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Text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337560" y="2532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Vivek Sundaresam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212080" y="25328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name of the ordering customer.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293522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184" y="3054096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" y="29352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Address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965960" y="2935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Text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337560" y="2935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152 Bunnerong Road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212080" y="29352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Street address including suburb.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74320" y="3337560"/>
            <a:ext cx="85953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9184" y="3456432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City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965960" y="3337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33756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Sydney, Melbourne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212080" y="3337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City of the customer (2 cities: Sydney &amp; Melbourne).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373989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29184" y="3858768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5488" y="37398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State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965960" y="37398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337560" y="37398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NSW, VIC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212080" y="37398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Australian state abbreviation.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274320" y="4142232"/>
            <a:ext cx="85953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29184" y="4261104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5488" y="4142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Customer Type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965960" y="41422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337560" y="4142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Corporate, Consumer…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212080" y="41422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Segment: Consumer, Corporate, Small Business, Home Office.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74320" y="454456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29184" y="4663440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75488" y="4544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</a:rPr>
              <a:t>Account Manager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1965960" y="4544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Text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3337560" y="4544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Tina Carlton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21208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Sales rep responsible for the account.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4D6E"/>
          </a:solidFill>
          <a:ln w="12700">
            <a:solidFill>
              <a:srgbClr val="0E4D6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 &amp; Logistics Columns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solidFill>
            <a:srgbClr val="0E4D6E"/>
          </a:solidFill>
          <a:ln w="12700">
            <a:solidFill>
              <a:srgbClr val="0E4D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Column Name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65960" y="1005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375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Sample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1208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35331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" y="1481328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13533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6E"/>
                </a:solidFill>
              </a:rPr>
              <a:t>Product Name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65960" y="13533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Text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1353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UGen Ultra Cordless…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0" y="13533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product name as listed in the catalogue.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773936"/>
            <a:ext cx="8595360" cy="402336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" y="1901952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17739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6E"/>
                </a:solidFill>
              </a:rPr>
              <a:t>Product Category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65960" y="177393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37560" y="17739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Office Supplies, Tech…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12080" y="177393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categories: Office Supplies, Technology, Furniture.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19456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" y="2322576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21945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6E"/>
                </a:solidFill>
              </a:rPr>
              <a:t>Product Container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965960" y="21945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37560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Small Box, Wrap Bag…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212080" y="21945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Packaging type: Small Box, Wrap Bag, Small Pack, Medium Box, Large Box.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2615184"/>
            <a:ext cx="8595360" cy="402336"/>
          </a:xfrm>
          <a:prstGeom prst="rect">
            <a:avLst/>
          </a:prstGeom>
          <a:solidFill>
            <a:srgbClr val="E8F0FA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2743200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26151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6E"/>
                </a:solidFill>
              </a:rPr>
              <a:t>Ship Mode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965960" y="261518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33756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Regular Air, Express Air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212080" y="26151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shipping methods available for each order.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303580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3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184" y="3163824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" y="3035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6E"/>
                </a:solidFill>
              </a:rPr>
              <a:t>Ship Date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965960" y="30358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337560" y="3035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5F8A"/>
                </a:solidFill>
              </a:rPr>
              <a:t>04-09-2014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212080" y="303580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Actual dispatch date (DD-MM-YYYY).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E1F5FE"/>
          </a:solidFill>
          <a:ln w="12700">
            <a:solidFill>
              <a:srgbClr val="89CFF0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0"/>
            <a:ext cx="502920" cy="50292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051560" y="3767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6E"/>
                </a:solidFill>
              </a:rPr>
              <a:t>Shipping Lead Time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105156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</a:rPr>
              <a:t>Regular Air: typically same day or next day  ·  Express Air: expedited same-day dispatch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Financial Columns  (9 columns)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69264"/>
            <a:ext cx="8595360" cy="30175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92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Column Name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11680" y="96926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Type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91840" y="96926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Sample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0" y="96926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Description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280160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" y="13898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1280160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Cost Price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011680" y="1280160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91840" y="1280160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$156.50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0" y="1280160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Unit cost price paid by the business.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1655064"/>
            <a:ext cx="85953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" y="17647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1655064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Retail Price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11680" y="1655064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91840" y="1655064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$300.97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0" y="1655064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Listed selling price per unit.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029968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" y="21396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2029968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Profit Margin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011680" y="2029968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291840" y="2029968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$144.47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0" y="2029968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Retail Price minus Cost Price (per unit).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" y="2404872"/>
            <a:ext cx="85953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9184" y="25146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2404872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Order Quantity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011680" y="2404872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Integer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291840" y="2404872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23, 8, 45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0" y="2404872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Number of units ordered in this line item.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74320" y="2779776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184" y="28895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" y="2779776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Sub Total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011680" y="2779776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291840" y="2779776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$4,533.52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572000" y="2779776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Retail Price × Order Quantity (before discount).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" y="3154680"/>
            <a:ext cx="85953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9184" y="32644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" y="3154680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Discount %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2011680" y="3154680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Percentage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3291840" y="3154680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2%, 7%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572000" y="3154680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Percentage discount applied to the order.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74320" y="3529584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29184" y="3639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5488" y="3529584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Discount $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011680" y="3529584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3291840" y="3529584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$194.83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4572000" y="3529584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Dollar value of the discount given.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274320" y="3904488"/>
            <a:ext cx="85953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29184" y="40142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5488" y="3904488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Order Total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2011680" y="3904488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3291840" y="3904488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$4,757.22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4572000" y="3904488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Sub Total minus Discount $ amount.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274320" y="4279392"/>
            <a:ext cx="8595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29184" y="43891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75488" y="4279392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Shipping Cost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011680" y="4279392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3291840" y="4279392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$7.18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4572000" y="4279392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Freight cost charged for the shipment.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274320" y="4654296"/>
            <a:ext cx="85953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9184" y="47640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75488" y="4654296"/>
            <a:ext cx="1508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Total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2011680" y="4654296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Currency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3291840" y="4654296"/>
            <a:ext cx="1234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C40"/>
                </a:solidFill>
              </a:rPr>
              <a:t>$4,291.55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4572000" y="4654296"/>
            <a:ext cx="4206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payable amount (Order Total ± Shipping Cost).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4592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Can You Do With This Data?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47472" y="1143000"/>
            <a:ext cx="2697480" cy="1600200"/>
          </a:xfrm>
          <a:prstGeom prst="rect">
            <a:avLst/>
          </a:prstGeom>
          <a:solidFill>
            <a:srgbClr val="071D34"/>
          </a:solidFill>
          <a:ln w="12700">
            <a:solidFill>
              <a:srgbClr val="1156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1143000"/>
            <a:ext cx="2697480" cy="45720"/>
          </a:xfrm>
          <a:prstGeom prst="rect">
            <a:avLst/>
          </a:prstGeom>
          <a:solidFill>
            <a:srgbClr val="1156A6"/>
          </a:solidFill>
          <a:ln w="12700">
            <a:solidFill>
              <a:srgbClr val="1156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1234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Analytics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6459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</a:rPr>
              <a:t>Track revenue trends by city, state, customer type and time period across 5 years.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97480" cy="1600200"/>
          </a:xfrm>
          <a:prstGeom prst="rect">
            <a:avLst/>
          </a:prstGeom>
          <a:solidFill>
            <a:srgbClr val="071D34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6974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234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Profitability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16459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</a:rPr>
              <a:t>Compare cost vs retail price, analyse profit margins and evaluate discount impact.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53328" y="1143000"/>
            <a:ext cx="2697480" cy="1600200"/>
          </a:xfrm>
          <a:prstGeom prst="rect">
            <a:avLst/>
          </a:prstGeom>
          <a:solidFill>
            <a:srgbClr val="071D3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53328" y="1143000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0488" y="1234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Segmentation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90488" y="16459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</a:rPr>
              <a:t>Identify top accounts, segment by Customer Type and measure Account Manager performance.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2944368"/>
            <a:ext cx="2697480" cy="1600200"/>
          </a:xfrm>
          <a:prstGeom prst="rect">
            <a:avLst/>
          </a:prstGeom>
          <a:solidFill>
            <a:srgbClr val="071D34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7472" y="2944368"/>
            <a:ext cx="26974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Logistics Insights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" y="34472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</a:rPr>
              <a:t>Evaluate shipping mode usage, lead times between Order Date and Ship Date.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0" y="2944368"/>
            <a:ext cx="2697480" cy="1600200"/>
          </a:xfrm>
          <a:prstGeom prst="rect">
            <a:avLst/>
          </a:prstGeom>
          <a:solidFill>
            <a:srgbClr val="071D3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0" y="2944368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37560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Planning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337560" y="34472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</a:rPr>
              <a:t>Understand popular product categories, containers and volume patterns over time.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53328" y="2944368"/>
            <a:ext cx="2697480" cy="1600200"/>
          </a:xfrm>
          <a:prstGeom prst="rect">
            <a:avLst/>
          </a:prstGeom>
          <a:solidFill>
            <a:srgbClr val="071D34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53328" y="2944368"/>
            <a:ext cx="2697480" cy="45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0488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Discount Strategy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90488" y="34472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</a:rPr>
              <a:t>Analyse discount rate distribution across priorities and customer segments.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DVT Project – Sales Order Dataset</dc:title>
  <dc:subject>PptxGenJS Presentation</dc:subject>
  <dc:creator>Group 2</dc:creator>
  <cp:lastModifiedBy>Group 2</cp:lastModifiedBy>
  <cp:revision>1</cp:revision>
  <dcterms:created xsi:type="dcterms:W3CDTF">2026-03-15T17:58:55Z</dcterms:created>
  <dcterms:modified xsi:type="dcterms:W3CDTF">2026-03-15T17:58:55Z</dcterms:modified>
</cp:coreProperties>
</file>